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5"/>
  </p:notesMasterIdLst>
  <p:sldIdLst>
    <p:sldId id="261" r:id="rId2"/>
    <p:sldId id="257" r:id="rId3"/>
    <p:sldId id="258" r:id="rId4"/>
    <p:sldId id="269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9FFD5-FF41-4539-84D3-076B631DC21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2A521-15FF-494A-B5BF-5123FC832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2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73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83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16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85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8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65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73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26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432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6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70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B5A53-B379-4E0A-8F2B-C9C61AAFA9DB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43E4632-F147-48FE-B070-9F219F149A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07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E6CD-0C58-B0F4-3AA1-6CCBAA43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UART with AES encryption</a:t>
            </a:r>
            <a:br>
              <a:rPr lang="en-IN" dirty="0"/>
            </a:br>
            <a:r>
              <a:rPr lang="en-IN" dirty="0"/>
              <a:t>With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317A0-0B24-E4F1-3486-84F4AB8F1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284" y="2762865"/>
            <a:ext cx="8445910" cy="2703480"/>
          </a:xfrm>
        </p:spPr>
        <p:txBody>
          <a:bodyPr/>
          <a:lstStyle/>
          <a:p>
            <a:r>
              <a:rPr lang="en-IN" dirty="0"/>
              <a:t>Rajan Samar – IMT2023616		Swayam Kotecha – IMT2023615</a:t>
            </a:r>
          </a:p>
          <a:p>
            <a:pPr marL="0" indent="0">
              <a:buNone/>
            </a:pPr>
            <a:endParaRPr lang="en-IN" dirty="0"/>
          </a:p>
          <a:p>
            <a:pPr algn="ctr"/>
            <a:r>
              <a:rPr lang="en-US" dirty="0"/>
              <a:t>VLS 505 / System design with FPGA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11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F7DD6-C92E-0387-3720-31299064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2172928"/>
            <a:ext cx="10779552" cy="3362631"/>
          </a:xfrm>
        </p:spPr>
        <p:txBody>
          <a:bodyPr>
            <a:normAutofit/>
          </a:bodyPr>
          <a:lstStyle/>
          <a:p>
            <a:r>
              <a:rPr lang="en-US" dirty="0"/>
              <a:t>Goal: Use UART to feed data, encrypt the received data with AES and send it to the PC. Implement this in HDL. Compare the implementation with a pipelined version</a:t>
            </a:r>
          </a:p>
          <a:p>
            <a:r>
              <a:rPr lang="en-US" dirty="0"/>
              <a:t>Objective: Receive data via UART on FPGA, encrypt using AES, and send encrypted data back to PC.</a:t>
            </a:r>
          </a:p>
          <a:p>
            <a:r>
              <a:rPr lang="en-US" dirty="0"/>
              <a:t>Compare normal AES implementation with a pipelined AES implementation in HDL.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57E85-E431-591F-7816-667A3BEB25E8}"/>
              </a:ext>
            </a:extLst>
          </p:cNvPr>
          <p:cNvSpPr txBox="1"/>
          <p:nvPr/>
        </p:nvSpPr>
        <p:spPr>
          <a:xfrm>
            <a:off x="1111045" y="983226"/>
            <a:ext cx="686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Problem Statement:</a:t>
            </a:r>
          </a:p>
        </p:txBody>
      </p:sp>
    </p:spTree>
    <p:extLst>
      <p:ext uri="{BB962C8B-B14F-4D97-AF65-F5344CB8AC3E}">
        <p14:creationId xmlns:p14="http://schemas.microsoft.com/office/powerpoint/2010/main" val="332997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15CC-0389-3A84-CBB3-DC4489C6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E5B0E-5CC1-F40C-A187-95494C834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top module acts as the bridge between the parallel sorter and serial UART.</a:t>
            </a:r>
          </a:p>
          <a:p>
            <a:endParaRPr lang="en-IN" dirty="0"/>
          </a:p>
          <a:p>
            <a:r>
              <a:rPr lang="en-US" dirty="0"/>
              <a:t>Protocol: </a:t>
            </a:r>
          </a:p>
          <a:p>
            <a:r>
              <a:rPr lang="en-US" dirty="0"/>
              <a:t>Baud Rate: 115200. </a:t>
            </a:r>
          </a:p>
          <a:p>
            <a:r>
              <a:rPr lang="en-US" dirty="0"/>
              <a:t>Clock Frequency: 100 </a:t>
            </a:r>
            <a:r>
              <a:rPr lang="en-US" dirty="0" err="1"/>
              <a:t>MHz.</a:t>
            </a:r>
            <a:r>
              <a:rPr lang="en-US" dirty="0"/>
              <a:t> </a:t>
            </a:r>
          </a:p>
          <a:p>
            <a:r>
              <a:rPr lang="en-US" dirty="0"/>
              <a:t>CLKS PER BIT: 1000000/1152=868 clock cycles</a:t>
            </a:r>
          </a:p>
        </p:txBody>
      </p:sp>
    </p:spTree>
    <p:extLst>
      <p:ext uri="{BB962C8B-B14F-4D97-AF65-F5344CB8AC3E}">
        <p14:creationId xmlns:p14="http://schemas.microsoft.com/office/powerpoint/2010/main" val="237633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48C8-ECF7-33B2-16B1-94CA8EAA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WAVEFORM : ITERATIVE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EC168A-00C9-9C7F-1DA8-5E786187F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775" y="2178613"/>
            <a:ext cx="9604375" cy="3203877"/>
          </a:xfrm>
        </p:spPr>
      </p:pic>
    </p:spTree>
    <p:extLst>
      <p:ext uri="{BB962C8B-B14F-4D97-AF65-F5344CB8AC3E}">
        <p14:creationId xmlns:p14="http://schemas.microsoft.com/office/powerpoint/2010/main" val="410961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E9AB-033D-8D01-2A33-286A0B08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waveform: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E55F27-EB61-6A95-973F-5C3E71DEB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975" y="2131461"/>
            <a:ext cx="9604375" cy="3218966"/>
          </a:xfrm>
        </p:spPr>
      </p:pic>
    </p:spTree>
    <p:extLst>
      <p:ext uri="{BB962C8B-B14F-4D97-AF65-F5344CB8AC3E}">
        <p14:creationId xmlns:p14="http://schemas.microsoft.com/office/powerpoint/2010/main" val="288665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5CE0-5395-F176-C97F-903D1D4D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ANALYSIS: RESOURCE UTILIZATION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AB4852-0CE5-49A8-B940-103E01F5B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37" y="2315960"/>
            <a:ext cx="6141934" cy="25842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58BBC8-AC4F-AAF2-A90F-720C2D65E240}"/>
              </a:ext>
            </a:extLst>
          </p:cNvPr>
          <p:cNvSpPr txBox="1"/>
          <p:nvPr/>
        </p:nvSpPr>
        <p:spPr>
          <a:xfrm>
            <a:off x="6843253" y="1976284"/>
            <a:ext cx="4827637" cy="292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Pipelined AES (Full AES Implemented):</a:t>
            </a:r>
          </a:p>
          <a:p>
            <a:r>
              <a:rPr lang="en-IN" dirty="0"/>
              <a:t>Utilization: </a:t>
            </a:r>
          </a:p>
          <a:p>
            <a:r>
              <a:rPr lang="en-IN" b="1" dirty="0"/>
              <a:t>551 LUTs, 1149 FFs</a:t>
            </a:r>
            <a:r>
              <a:rPr lang="en-IN" dirty="0"/>
              <a:t> </a:t>
            </a:r>
          </a:p>
          <a:p>
            <a:r>
              <a:rPr lang="en-IN" dirty="0"/>
              <a:t>(AES engine alone: </a:t>
            </a:r>
            <a:r>
              <a:rPr lang="en-IN" b="1" dirty="0"/>
              <a:t>224 LUTs, 645 FFs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Registers are high because each pipeline stage stores intermediate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Shorter combinational path → </a:t>
            </a:r>
            <a:r>
              <a:rPr lang="en-IN" b="1" dirty="0"/>
              <a:t>better timing</a:t>
            </a:r>
            <a:r>
              <a:rPr lang="en-IN" dirty="0"/>
              <a:t>, easier 100 MHz closure.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Ideal for </a:t>
            </a:r>
            <a:r>
              <a:rPr lang="en-IN" b="1" dirty="0"/>
              <a:t>high throughput</a:t>
            </a:r>
            <a:r>
              <a:rPr lang="en-IN" dirty="0"/>
              <a:t>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05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602F-9678-862B-697C-37FB4938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Iterative resource Utilization: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4807-0A79-627E-39A2-F70B6221D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6877" y="2015732"/>
            <a:ext cx="3837977" cy="3608320"/>
          </a:xfrm>
        </p:spPr>
        <p:txBody>
          <a:bodyPr/>
          <a:lstStyle/>
          <a:p>
            <a:r>
              <a:rPr lang="en-US" dirty="0"/>
              <a:t>Utilization shown: </a:t>
            </a:r>
            <a:r>
              <a:rPr lang="en-US" b="1" dirty="0"/>
              <a:t>20 LUTs, 22 FFs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Iterative AES normally uses </a:t>
            </a:r>
            <a:r>
              <a:rPr lang="en-US" b="1" dirty="0"/>
              <a:t>much fewer resources</a:t>
            </a:r>
            <a:r>
              <a:rPr lang="en-US" dirty="0"/>
              <a:t> than pipelined AES, but with </a:t>
            </a:r>
            <a:r>
              <a:rPr lang="en-US" b="1" dirty="0"/>
              <a:t>longer critical path</a:t>
            </a:r>
            <a:r>
              <a:rPr lang="en-US" dirty="0"/>
              <a:t> → lower max frequency.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C8EBD6-973D-3872-B0EE-CC527471B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2320413"/>
            <a:ext cx="6479458" cy="216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0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96B0-6A88-5AB1-AD3A-52232529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Analysis:</a:t>
            </a:r>
            <a:br>
              <a:rPr lang="en-IN" dirty="0"/>
            </a:br>
            <a:r>
              <a:rPr lang="en-IN" dirty="0"/>
              <a:t>Iterative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BE13B7-B4F3-D63E-4398-FF50CE6B9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90" y="2045621"/>
            <a:ext cx="5589110" cy="3449638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EA3D2A-5ABE-AD29-AF5C-21E76CBD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736408"/>
              </p:ext>
            </p:extLst>
          </p:nvPr>
        </p:nvGraphicFramePr>
        <p:xfrm>
          <a:off x="6394858" y="2517058"/>
          <a:ext cx="5099052" cy="2194560"/>
        </p:xfrm>
        <a:graphic>
          <a:graphicData uri="http://schemas.openxmlformats.org/drawingml/2006/table">
            <a:tbl>
              <a:tblPr/>
              <a:tblGrid>
                <a:gridCol w="1274763">
                  <a:extLst>
                    <a:ext uri="{9D8B030D-6E8A-4147-A177-3AD203B41FA5}">
                      <a16:colId xmlns:a16="http://schemas.microsoft.com/office/drawing/2014/main" val="3409648384"/>
                    </a:ext>
                  </a:extLst>
                </a:gridCol>
                <a:gridCol w="1274763">
                  <a:extLst>
                    <a:ext uri="{9D8B030D-6E8A-4147-A177-3AD203B41FA5}">
                      <a16:colId xmlns:a16="http://schemas.microsoft.com/office/drawing/2014/main" val="2128219437"/>
                    </a:ext>
                  </a:extLst>
                </a:gridCol>
                <a:gridCol w="1274763">
                  <a:extLst>
                    <a:ext uri="{9D8B030D-6E8A-4147-A177-3AD203B41FA5}">
                      <a16:colId xmlns:a16="http://schemas.microsoft.com/office/drawing/2014/main" val="486362940"/>
                    </a:ext>
                  </a:extLst>
                </a:gridCol>
                <a:gridCol w="1274763">
                  <a:extLst>
                    <a:ext uri="{9D8B030D-6E8A-4147-A177-3AD203B41FA5}">
                      <a16:colId xmlns:a16="http://schemas.microsoft.com/office/drawing/2014/main" val="2659596247"/>
                    </a:ext>
                  </a:extLst>
                </a:gridCol>
              </a:tblGrid>
              <a:tr h="59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Total On-Chip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Dynamic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Static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33004"/>
                  </a:ext>
                </a:extLst>
              </a:tr>
              <a:tr h="59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Iterative AES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0.069 W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0.001 W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0.068 W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419558"/>
                  </a:ext>
                </a:extLst>
              </a:tr>
              <a:tr h="59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Pipelined AES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0.075 W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0.005 W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0.070 W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00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62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B5C0-8AA7-7773-29BC-CD4AFE6B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analysis: pipelined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6302A9-E9E1-4D35-42EA-18F1D2BED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36" y="2134112"/>
            <a:ext cx="5722180" cy="34496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13EDAB-6846-8936-772B-CFC7BE74A6EA}"/>
              </a:ext>
            </a:extLst>
          </p:cNvPr>
          <p:cNvSpPr txBox="1"/>
          <p:nvPr/>
        </p:nvSpPr>
        <p:spPr>
          <a:xfrm>
            <a:off x="7138219" y="2134112"/>
            <a:ext cx="44245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Pipelined Version Shows Higher Dynamic Power</a:t>
            </a:r>
          </a:p>
          <a:p>
            <a:r>
              <a:rPr lang="en-IN" b="1"/>
              <a:t>Iterative AES Dynamic Power</a:t>
            </a:r>
            <a:r>
              <a:rPr lang="en-IN"/>
              <a:t>: </a:t>
            </a:r>
            <a:r>
              <a:rPr lang="en-IN" b="1"/>
              <a:t>0.001 W</a:t>
            </a:r>
            <a:endParaRPr lang="en-IN"/>
          </a:p>
          <a:p>
            <a:r>
              <a:rPr lang="en-IN" b="1"/>
              <a:t>Pipelined AES Dynamic Power</a:t>
            </a:r>
            <a:r>
              <a:rPr lang="en-IN"/>
              <a:t>: </a:t>
            </a:r>
            <a:r>
              <a:rPr lang="en-IN" b="1"/>
              <a:t>0.005 W</a:t>
            </a:r>
            <a:endParaRPr lang="en-IN"/>
          </a:p>
          <a:p>
            <a:r>
              <a:rPr lang="en-IN" b="1"/>
              <a:t>Reason:</a:t>
            </a:r>
            <a:endParaRPr lang="en-IN"/>
          </a:p>
          <a:p>
            <a:pPr lvl="1"/>
            <a:r>
              <a:rPr lang="en-IN"/>
              <a:t>Pipeline architecture uses </a:t>
            </a:r>
            <a:r>
              <a:rPr lang="en-IN" b="1"/>
              <a:t>more registers and more switching per clock</a:t>
            </a:r>
            <a:r>
              <a:rPr lang="en-IN"/>
              <a:t>.</a:t>
            </a:r>
          </a:p>
          <a:p>
            <a:pPr lvl="1"/>
            <a:r>
              <a:rPr lang="en-IN"/>
              <a:t>Every stage toggles simultaneously → </a:t>
            </a:r>
            <a:r>
              <a:rPr lang="en-IN" b="1"/>
              <a:t>more signal activity</a:t>
            </a:r>
            <a:r>
              <a:rPr lang="en-IN"/>
              <a:t> → </a:t>
            </a:r>
            <a:r>
              <a:rPr lang="en-IN" b="1"/>
              <a:t>higher dynamic power</a:t>
            </a:r>
            <a:r>
              <a:rPr lang="en-I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727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0834-BC19-269A-793F-2C657898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Timing analysis: </a:t>
            </a:r>
            <a:r>
              <a:rPr lang="en-IN" dirty="0" err="1"/>
              <a:t>PIpelined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35AFAE-C97A-7DD4-475E-710C71705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86" y="2536723"/>
            <a:ext cx="6041204" cy="246752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07D1F2-31C8-C7AF-08AC-A4724F4DA869}"/>
              </a:ext>
            </a:extLst>
          </p:cNvPr>
          <p:cNvSpPr txBox="1"/>
          <p:nvPr/>
        </p:nvSpPr>
        <p:spPr>
          <a:xfrm>
            <a:off x="7408718" y="2067791"/>
            <a:ext cx="43351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Pipelined run</a:t>
            </a:r>
          </a:p>
          <a:p>
            <a:r>
              <a:rPr lang="en-IN" dirty="0" err="1"/>
              <a:t>WNS_p</a:t>
            </a:r>
            <a:r>
              <a:rPr lang="en-IN" dirty="0"/>
              <a:t> = </a:t>
            </a:r>
            <a:r>
              <a:rPr lang="en-IN" b="1" dirty="0"/>
              <a:t>+3.476 ns</a:t>
            </a:r>
            <a:endParaRPr lang="en-IN" dirty="0"/>
          </a:p>
          <a:p>
            <a:r>
              <a:rPr lang="en-IN" dirty="0"/>
              <a:t>Path delay = </a:t>
            </a:r>
            <a:r>
              <a:rPr lang="en-IN" dirty="0" err="1"/>
              <a:t>T_constraint</a:t>
            </a:r>
            <a:r>
              <a:rPr lang="en-IN" dirty="0"/>
              <a:t> − WNS = 10.0 ns − 3.476 ns = </a:t>
            </a:r>
            <a:r>
              <a:rPr lang="en-IN" b="1" dirty="0"/>
              <a:t>6.524 ns</a:t>
            </a:r>
            <a:r>
              <a:rPr lang="en-IN" dirty="0"/>
              <a:t>.</a:t>
            </a:r>
          </a:p>
          <a:p>
            <a:r>
              <a:rPr lang="en-IN" dirty="0" err="1"/>
              <a:t>Fmax_p</a:t>
            </a:r>
            <a:r>
              <a:rPr lang="en-IN" dirty="0"/>
              <a:t> = 1 / (</a:t>
            </a:r>
            <a:r>
              <a:rPr lang="en-IN" dirty="0" err="1"/>
              <a:t>path_delay</a:t>
            </a:r>
            <a:r>
              <a:rPr lang="en-IN" dirty="0"/>
              <a:t>) = 1 / 6.524e-9 s ≈ </a:t>
            </a:r>
            <a:r>
              <a:rPr lang="en-IN" b="1" dirty="0"/>
              <a:t>153.2 </a:t>
            </a:r>
            <a:r>
              <a:rPr lang="en-IN" b="1" dirty="0" err="1"/>
              <a:t>MHz</a:t>
            </a:r>
            <a:r>
              <a:rPr lang="en-IN" dirty="0" err="1"/>
              <a:t>.</a:t>
            </a:r>
            <a:br>
              <a:rPr lang="en-IN" dirty="0"/>
            </a:br>
            <a:r>
              <a:rPr lang="en-IN" dirty="0"/>
              <a:t>(report as </a:t>
            </a:r>
            <a:r>
              <a:rPr lang="en-IN" b="1" dirty="0"/>
              <a:t>~153.2 MHz</a:t>
            </a:r>
            <a:r>
              <a:rPr lang="en-IN" dirty="0"/>
              <a:t>)</a:t>
            </a:r>
          </a:p>
          <a:p>
            <a:r>
              <a:rPr lang="en-IN" b="1" dirty="0"/>
              <a:t>Iterative run</a:t>
            </a:r>
          </a:p>
          <a:p>
            <a:r>
              <a:rPr lang="en-IN" dirty="0" err="1"/>
              <a:t>WNS_i</a:t>
            </a:r>
            <a:r>
              <a:rPr lang="en-IN" dirty="0"/>
              <a:t> = </a:t>
            </a:r>
            <a:r>
              <a:rPr lang="en-IN" b="1" dirty="0"/>
              <a:t>+6.350 ns</a:t>
            </a:r>
            <a:endParaRPr lang="en-IN" dirty="0"/>
          </a:p>
          <a:p>
            <a:r>
              <a:rPr lang="en-IN" dirty="0"/>
              <a:t>Path delay = 10.0 ns − 6.350 ns = </a:t>
            </a:r>
            <a:r>
              <a:rPr lang="en-IN" b="1" dirty="0"/>
              <a:t>3.65 ns</a:t>
            </a:r>
            <a:r>
              <a:rPr lang="en-IN" dirty="0"/>
              <a:t>.</a:t>
            </a:r>
          </a:p>
          <a:p>
            <a:r>
              <a:rPr lang="en-IN" dirty="0" err="1"/>
              <a:t>Fmax_i</a:t>
            </a:r>
            <a:r>
              <a:rPr lang="en-IN" dirty="0"/>
              <a:t> = 1 / 3.65e-9 s ≈ </a:t>
            </a:r>
            <a:r>
              <a:rPr lang="en-IN" b="1" dirty="0"/>
              <a:t>274.0 </a:t>
            </a:r>
            <a:r>
              <a:rPr lang="en-IN" b="1" dirty="0" err="1"/>
              <a:t>MHz</a:t>
            </a:r>
            <a:r>
              <a:rPr lang="en-IN" dirty="0" err="1"/>
              <a:t>.</a:t>
            </a:r>
            <a:br>
              <a:rPr lang="en-IN" dirty="0"/>
            </a:br>
            <a:r>
              <a:rPr lang="en-IN" dirty="0"/>
              <a:t>(report as </a:t>
            </a:r>
            <a:r>
              <a:rPr lang="en-IN" b="1" dirty="0"/>
              <a:t>~274.0 MHz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930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2DD8-8E1F-390E-5FF2-195F1EEC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Timing Analysis: iterative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21A7E-58EE-AB4E-9CBC-A3DDDA7F3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9" y="2389239"/>
            <a:ext cx="6434495" cy="28218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683D3A-E4BB-D05B-8DC2-213408D2097A}"/>
              </a:ext>
            </a:extLst>
          </p:cNvPr>
          <p:cNvSpPr txBox="1"/>
          <p:nvPr/>
        </p:nvSpPr>
        <p:spPr>
          <a:xfrm>
            <a:off x="7543800" y="2763981"/>
            <a:ext cx="3635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Iterative WNS= 6.350ns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Worst Hold Slack: 0.258ns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satisfy hold constraints as greater than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09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3B56-C900-C327-FFC2-C6D0CD73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98139"/>
          </a:xfrm>
        </p:spPr>
        <p:txBody>
          <a:bodyPr/>
          <a:lstStyle/>
          <a:p>
            <a:r>
              <a:rPr lang="en-IN" dirty="0"/>
              <a:t>Throughput, area,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EA57A-76E0-4EF5-0F98-0ECA65F18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Pipeline AES (reported)</a:t>
            </a:r>
          </a:p>
          <a:p>
            <a:r>
              <a:rPr lang="en-IN" b="1" dirty="0"/>
              <a:t>Area:</a:t>
            </a:r>
            <a:r>
              <a:rPr lang="en-IN" dirty="0"/>
              <a:t> 551 LUTs, 1149 FFs (AES engine ≈ </a:t>
            </a:r>
            <a:r>
              <a:rPr lang="en-IN" b="1" dirty="0"/>
              <a:t>224 LUTs / 645 FFs</a:t>
            </a:r>
            <a:r>
              <a:rPr lang="en-IN" dirty="0"/>
              <a:t>)</a:t>
            </a:r>
          </a:p>
          <a:p>
            <a:r>
              <a:rPr lang="en-IN" b="1" dirty="0"/>
              <a:t>Latency:</a:t>
            </a:r>
            <a:r>
              <a:rPr lang="en-IN" dirty="0"/>
              <a:t> </a:t>
            </a:r>
            <a:r>
              <a:rPr lang="en-IN" b="1" dirty="0"/>
              <a:t>11 cycles</a:t>
            </a:r>
            <a:r>
              <a:rPr lang="en-IN" dirty="0"/>
              <a:t> → </a:t>
            </a:r>
            <a:r>
              <a:rPr lang="en-IN" b="1" dirty="0"/>
              <a:t>110 ns</a:t>
            </a:r>
            <a:r>
              <a:rPr lang="en-IN" dirty="0"/>
              <a:t> @ 100 MHz; </a:t>
            </a:r>
            <a:r>
              <a:rPr lang="en-IN" b="1" dirty="0"/>
              <a:t>~71.8 ns</a:t>
            </a:r>
            <a:r>
              <a:rPr lang="en-IN" dirty="0"/>
              <a:t> @ Fmax (≈153.2 MHz)</a:t>
            </a:r>
          </a:p>
          <a:p>
            <a:r>
              <a:rPr lang="en-IN" b="1" dirty="0"/>
              <a:t>Throughput:</a:t>
            </a:r>
            <a:r>
              <a:rPr lang="en-IN" dirty="0"/>
              <a:t> 1 block/cycle → </a:t>
            </a:r>
            <a:r>
              <a:rPr lang="en-IN" b="1" dirty="0"/>
              <a:t>100M blocks/s</a:t>
            </a:r>
            <a:r>
              <a:rPr lang="en-IN" dirty="0"/>
              <a:t> → </a:t>
            </a:r>
            <a:r>
              <a:rPr lang="en-IN" b="1" dirty="0"/>
              <a:t>12.8 Gbit/s</a:t>
            </a:r>
            <a:r>
              <a:rPr lang="en-IN" dirty="0"/>
              <a:t> @100 MHz; </a:t>
            </a:r>
            <a:r>
              <a:rPr lang="en-IN" b="1" dirty="0"/>
              <a:t>153.2M blocks/s</a:t>
            </a:r>
            <a:r>
              <a:rPr lang="en-IN" dirty="0"/>
              <a:t> → </a:t>
            </a:r>
            <a:r>
              <a:rPr lang="en-IN" b="1" dirty="0"/>
              <a:t>19.61 Gbit/s</a:t>
            </a:r>
            <a:r>
              <a:rPr lang="en-IN" dirty="0"/>
              <a:t> @Fmax</a:t>
            </a:r>
          </a:p>
          <a:p>
            <a:r>
              <a:rPr lang="en-IN" b="1" dirty="0"/>
              <a:t>Iterative AES (reported)</a:t>
            </a:r>
          </a:p>
          <a:p>
            <a:r>
              <a:rPr lang="en-IN" b="1" dirty="0"/>
              <a:t>Area:</a:t>
            </a:r>
            <a:r>
              <a:rPr lang="en-IN" dirty="0"/>
              <a:t> </a:t>
            </a:r>
            <a:r>
              <a:rPr lang="en-IN" b="1" dirty="0"/>
              <a:t>20 LUTs, 22 FFs</a:t>
            </a:r>
            <a:r>
              <a:rPr lang="en-IN" dirty="0"/>
              <a:t> </a:t>
            </a:r>
          </a:p>
          <a:p>
            <a:r>
              <a:rPr lang="en-IN" b="1" dirty="0"/>
              <a:t>Latency (assumed 1-round/cycle):</a:t>
            </a:r>
            <a:r>
              <a:rPr lang="en-IN" dirty="0"/>
              <a:t> </a:t>
            </a:r>
            <a:r>
              <a:rPr lang="en-IN" b="1" dirty="0"/>
              <a:t>11 cycles</a:t>
            </a:r>
            <a:r>
              <a:rPr lang="en-IN" dirty="0"/>
              <a:t> → </a:t>
            </a:r>
            <a:r>
              <a:rPr lang="en-IN" b="1" dirty="0"/>
              <a:t>110 ns</a:t>
            </a:r>
            <a:r>
              <a:rPr lang="en-IN" dirty="0"/>
              <a:t> @ 100 MHz; </a:t>
            </a:r>
            <a:r>
              <a:rPr lang="en-IN" b="1" dirty="0"/>
              <a:t>~40.2 ns</a:t>
            </a:r>
            <a:r>
              <a:rPr lang="en-IN" dirty="0"/>
              <a:t> @ Fmax (≈274.0 MHz)</a:t>
            </a:r>
          </a:p>
          <a:p>
            <a:r>
              <a:rPr lang="en-IN" b="1" dirty="0"/>
              <a:t>Throughput (assumed 1-round/cycle):</a:t>
            </a:r>
            <a:r>
              <a:rPr lang="en-IN" dirty="0"/>
              <a:t> 100 MHz / 11 → </a:t>
            </a:r>
            <a:r>
              <a:rPr lang="en-IN" b="1" dirty="0"/>
              <a:t>9.09M blocks/s</a:t>
            </a:r>
            <a:r>
              <a:rPr lang="en-IN" dirty="0"/>
              <a:t> → </a:t>
            </a:r>
            <a:r>
              <a:rPr lang="en-IN" b="1" dirty="0"/>
              <a:t>1.164 Gbit/s</a:t>
            </a:r>
            <a:r>
              <a:rPr lang="en-IN" dirty="0"/>
              <a:t> @100 MHz; </a:t>
            </a:r>
            <a:r>
              <a:rPr lang="en-IN" b="1" dirty="0"/>
              <a:t>~24.91M blocks/s</a:t>
            </a:r>
            <a:r>
              <a:rPr lang="en-IN" dirty="0"/>
              <a:t> → </a:t>
            </a:r>
            <a:r>
              <a:rPr lang="en-IN" b="1" dirty="0"/>
              <a:t>3.188 Gbit/s</a:t>
            </a:r>
            <a:r>
              <a:rPr lang="en-IN" dirty="0"/>
              <a:t> @Fmax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435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62E6-FD24-6579-F543-00C60A6E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E063-28F5-54C2-B893-63BA5A5DE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Throughput: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 is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~11× faster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 block/cycle).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Latency: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Both take 11 cycles, but iterative gives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ns latency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higher Fmax.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 is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 larger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(≈ 27× LUTs, 52× FFs)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 consumes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more dynamic power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6910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180</TotalTime>
  <Words>644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Gallery</vt:lpstr>
      <vt:lpstr>UART with AES encryption With performance analysis</vt:lpstr>
      <vt:lpstr>PowerPoint Presentation</vt:lpstr>
      <vt:lpstr>UART</vt:lpstr>
      <vt:lpstr>SIMULATION WAVEFORM : ITERATIVE</vt:lpstr>
      <vt:lpstr>Simulation waveform: PIPELINE</vt:lpstr>
      <vt:lpstr>IMPLEMENTATION ANALYSIS: RESOURCE UTILIZATION</vt:lpstr>
      <vt:lpstr>Iterative resource Utilization:</vt:lpstr>
      <vt:lpstr>Power Analysis: Iterative</vt:lpstr>
      <vt:lpstr>Power analysis: pipelined</vt:lpstr>
      <vt:lpstr>Timing analysis: PIpelined</vt:lpstr>
      <vt:lpstr>Timing Analysis: iterative</vt:lpstr>
      <vt:lpstr>Throughput, area, latency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IMT2023616 Rajan Samar</dc:creator>
  <cp:lastModifiedBy>IMT2023616 Rajan Samar</cp:lastModifiedBy>
  <cp:revision>3</cp:revision>
  <dcterms:created xsi:type="dcterms:W3CDTF">2025-11-25T04:27:14Z</dcterms:created>
  <dcterms:modified xsi:type="dcterms:W3CDTF">2025-11-25T07:28:02Z</dcterms:modified>
</cp:coreProperties>
</file>